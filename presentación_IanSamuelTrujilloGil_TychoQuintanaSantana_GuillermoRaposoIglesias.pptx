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5.jpg" ContentType="image/p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8" autoAdjust="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926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académico — resumen para presentación.
[Sources]
- /mnt/data/Memoria_VC (2).pdf (portada)
- Imagen proporcionada por el usuario: /mnt/data/9c1c3c27-4514-4785-ba52-9c6894b171c1.png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/mnt/data/Memoria_VC (2).pdf (secciones 1 y 2; figura 5.1)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/mnt/data/Memoria_VC (2).pdf (sección 5.3 y tabla 5.2)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/mnt/data/Memoria_VC (2).pdf (secciones 5.4 y 5.5; tablas 5.3 y 5.4)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/mnt/data/Memoria_VC (2).pdf (sección 7 y tabla 5.5; validación en sección 2)
- Imagen proporcionada por el usuario: /mnt/data/9c1c3c27-4514-4785-ba52-9c6894b171c1.png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/mnt/data/Memoria_VC (2).pdf (sección 8.1; advertencia de uso en sección 2)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/mnt/data/Memoria_VC (2).pdf (secciones 8.3 y 9)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/mnt/data/Memoria_VC (2).pdf (portada)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965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3632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9077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2157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9986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3699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556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2635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9105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8865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1760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57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50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jpg"/><Relationship Id="rId4" Type="http://schemas.openxmlformats.org/officeDocument/2006/relationships/hyperlink" Target="https://www.youtube.com/watch?v=MTQH-I_Ivv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s_ulpgc_eii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07" y="70948"/>
            <a:ext cx="3399769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4630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natural de usuario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videojuegos FPS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31520" y="2743200"/>
            <a:ext cx="2560320" cy="0"/>
          </a:xfrm>
          <a:prstGeom prst="line">
            <a:avLst/>
          </a:prstGeom>
          <a:noFill/>
          <a:ln w="50800">
            <a:solidFill>
              <a:srgbClr val="0066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731520" y="297180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una interfaz natural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 en visión por computador</a:t>
            </a:r>
            <a:endParaRPr lang="en-US" sz="1800" dirty="0"/>
          </a:p>
        </p:txBody>
      </p:sp>
      <p:pic>
        <p:nvPicPr>
          <p:cNvPr id="6" name="Image 1" descr="/mnt/data/9c1c3c27-4514-4785-ba52-9c6894b171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260772"/>
            <a:ext cx="4480560" cy="27936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4114800"/>
            <a:ext cx="3731756" cy="1305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</a:t>
            </a:r>
            <a:r>
              <a:rPr lang="en-US" sz="1600" b="1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n-US" sz="1600" b="1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Tycho </a:t>
            </a:r>
            <a:r>
              <a:rPr lang="en-US" sz="1600" b="1" dirty="0" err="1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Quintana</a:t>
            </a:r>
            <a:r>
              <a:rPr lang="en-US" sz="1600" b="1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Santana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 Raposo Iglesias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Samuel Trujillo Gil</a:t>
            </a:r>
            <a:endParaRPr lang="en-US" sz="1600" b="1" dirty="0"/>
          </a:p>
        </p:txBody>
      </p:sp>
      <p:sp>
        <p:nvSpPr>
          <p:cNvPr id="9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162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motivación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194560" cy="0"/>
          </a:xfrm>
          <a:prstGeom prst="line">
            <a:avLst/>
          </a:prstGeom>
          <a:noFill/>
          <a:ln w="38100">
            <a:solidFill>
              <a:srgbClr val="0066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logos_ulpgc_eii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670" y="201168"/>
            <a:ext cx="2408170" cy="777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227" y="1640323"/>
            <a:ext cx="5715000" cy="3259884"/>
          </a:xfrm>
          <a:prstGeom prst="rect">
            <a:avLst/>
          </a:prstGeom>
          <a:solidFill>
            <a:srgbClr val="F5F7FA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051560" y="2039510"/>
            <a:ext cx="5074920" cy="2581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controlador híbrido para videojuegos FPS.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Apuntado y disparo: seguimiento en tiempo real de un objeto físico (ratón + clic).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y salto: gestos corporales vía estimación de pose humana (W/A/D + Espacio).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guiada y filtros para estabilidad (EMA, antirrebote).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Motivación: explorar interfaces naturales (accesibilidad, inmersión) sin sensores dedicados.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experimental en Counter‑Strike 2.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65974" y="1964285"/>
            <a:ext cx="464515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9" name="Image 1" descr="/mnt/data/architecture_diagra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134" y="2563181"/>
            <a:ext cx="4370832" cy="161030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162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por poses corporales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194560" cy="0"/>
          </a:xfrm>
          <a:prstGeom prst="line">
            <a:avLst/>
          </a:prstGeom>
          <a:noFill/>
          <a:ln w="38100">
            <a:solidFill>
              <a:srgbClr val="0066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162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Landmarker (lite) + lógica geométrica + filtros de estabilidad.</a:t>
            </a:r>
            <a:endParaRPr lang="en-US" sz="1400" dirty="0"/>
          </a:p>
        </p:txBody>
      </p:sp>
      <p:pic>
        <p:nvPicPr>
          <p:cNvPr id="5" name="Image 0" descr="/mnt/data/logos_ulpgc_eii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670" y="201168"/>
            <a:ext cx="2408170" cy="777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541208"/>
            <a:ext cx="5394960" cy="1195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7" name="Text 4"/>
          <p:cNvSpPr/>
          <p:nvPr/>
        </p:nvSpPr>
        <p:spPr>
          <a:xfrm>
            <a:off x="1051560" y="1661655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(automática)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912871"/>
            <a:ext cx="4754880" cy="670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previa: 5 s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neutral: 2 s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“forward”: 1.2 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883312"/>
            <a:ext cx="5394960" cy="17889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51560" y="3052919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y decisión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3451615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landmarks del cuerpo: inclinación lateral, altura relativa de cadera, </a:t>
            </a:r>
            <a:r>
              <a:rPr lang="en-US" sz="1200" dirty="0" err="1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</a:t>
            </a: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hombros y feature dinámica (dy).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suavizado exponencial (EMA) + antirrebote (debouncer) para evitar cambios espurios.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4813384"/>
            <a:ext cx="5394960" cy="100879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1051560" y="4943661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(teclado)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5273535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W/A/D: movimiento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salto (con cooldown)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46520" y="1560871"/>
            <a:ext cx="5010912" cy="102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766560" y="1661649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/ Derecha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66560" y="1932531"/>
            <a:ext cx="4370832" cy="509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prioriza el lateral cuando la inclinación supera un umbral (LEAN_X_THRESH ≈ 0.25).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46520" y="2736320"/>
            <a:ext cx="5010912" cy="98528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766560" y="2856766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766560" y="3137473"/>
            <a:ext cx="4370832" cy="4222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 cuando dy supera un umbral adaptativo y usa histéresis para evitar oscilaciones.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46520" y="3892097"/>
            <a:ext cx="5010912" cy="9021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766560" y="3983053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766560" y="4194936"/>
            <a:ext cx="4370832" cy="495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de elevación de cadera + velocidad vertical; cooldown ≈ 0.55 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46520" y="4899902"/>
            <a:ext cx="5010912" cy="9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6766560" y="4981523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en tiempo real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66560" y="5272064"/>
            <a:ext cx="4370832" cy="5265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(altura cadera y diferencias verticales) + debouncer (varios frames consecutivos) para cambios de estado robustos.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162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Apuntado y disparo (objeto apuntador)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194560" cy="0"/>
          </a:xfrm>
          <a:prstGeom prst="line">
            <a:avLst/>
          </a:prstGeom>
          <a:noFill/>
          <a:ln w="38100">
            <a:solidFill>
              <a:srgbClr val="0066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162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clásico: CSRT + Kalman + template matching + veto HSV.</a:t>
            </a:r>
            <a:endParaRPr lang="en-US" sz="1400" dirty="0"/>
          </a:p>
        </p:txBody>
      </p:sp>
      <p:pic>
        <p:nvPicPr>
          <p:cNvPr id="5" name="Image 0" descr="/mnt/data/logos_ulpgc_eii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670" y="201168"/>
            <a:ext cx="240817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5320" y="1645920"/>
            <a:ext cx="25146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9DDE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fases, 9 clics)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581400" y="1645920"/>
            <a:ext cx="25146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9DDE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CSRT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(principal)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15640" y="1947672"/>
            <a:ext cx="320040" cy="219456"/>
          </a:xfrm>
          <a:prstGeom prst="rightArrow">
            <a:avLst/>
          </a:prstGeom>
          <a:solidFill>
            <a:srgbClr val="0066A1"/>
          </a:solidFill>
          <a:ln w="12700">
            <a:solidFill>
              <a:srgbClr val="0066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55320" y="2697480"/>
            <a:ext cx="2514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Kalman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81400" y="2697480"/>
            <a:ext cx="2514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Matching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15640" y="2999232"/>
            <a:ext cx="320040" cy="219456"/>
          </a:xfrm>
          <a:prstGeom prst="rightArrow">
            <a:avLst/>
          </a:prstGeom>
          <a:solidFill>
            <a:srgbClr val="0066A1"/>
          </a:solidFill>
          <a:ln w="12700">
            <a:solidFill>
              <a:srgbClr val="0066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55320" y="3749040"/>
            <a:ext cx="2514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Veto/penalización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color (HSV)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81400" y="3749040"/>
            <a:ext cx="2514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Mov. ratón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(centro → delta)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15640" y="4050792"/>
            <a:ext cx="320040" cy="219456"/>
          </a:xfrm>
          <a:prstGeom prst="rightArrow">
            <a:avLst/>
          </a:prstGeom>
          <a:solidFill>
            <a:srgbClr val="0066A1"/>
          </a:solidFill>
          <a:ln w="12700">
            <a:solidFill>
              <a:srgbClr val="0066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2049780" y="4823460"/>
            <a:ext cx="297180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9DDE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Disparo: “fogonazo”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(brillo en ROI)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328770" y="5692140"/>
            <a:ext cx="209377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ratón + clic izquierdo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23886" y="1952097"/>
            <a:ext cx="4736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7043926" y="2180697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clave (tracking)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043926" y="2500737"/>
            <a:ext cx="409651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local: ±100 px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coincidencia: 0.70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pérdida: 30 frames (→ búsqueda global)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base: 0.5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HSV (H): ±15°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23886" y="4213614"/>
            <a:ext cx="4736592" cy="136570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7043926" y="4334453"/>
            <a:ext cx="4096512" cy="165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por brillo (ROI)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43926" y="4654493"/>
            <a:ext cx="4096512" cy="772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de brillo &gt; 25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Cooldown: 0.1 s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luz ambiente: EMA 0.8 (ambiente) / 0.2 (actual)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162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Comercial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194560" cy="0"/>
          </a:xfrm>
          <a:prstGeom prst="line">
            <a:avLst/>
          </a:prstGeom>
          <a:noFill/>
          <a:ln w="38100">
            <a:solidFill>
              <a:srgbClr val="0066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logos_ulpgc_eii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670" y="201168"/>
            <a:ext cx="2408170" cy="7772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1000" dirty="0"/>
          </a:p>
        </p:txBody>
      </p:sp>
      <p:pic>
        <p:nvPicPr>
          <p:cNvPr id="14" name="Imagen 13" descr="Un dibujo de una persona">
            <a:hlinkClick r:id="rId4"/>
            <a:extLst>
              <a:ext uri="{FF2B5EF4-FFF2-40B4-BE49-F238E27FC236}">
                <a16:creationId xmlns:a16="http://schemas.microsoft.com/office/drawing/2014/main" id="{1A49B8CB-D7DB-68D0-DE05-824FB6AE2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174212"/>
            <a:ext cx="7232610" cy="4509575"/>
          </a:xfrm>
          <a:prstGeom prst="rect">
            <a:avLst/>
          </a:prstGeom>
          <a:effectLst>
            <a:softEdge rad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162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194560" cy="0"/>
          </a:xfrm>
          <a:prstGeom prst="line">
            <a:avLst/>
          </a:prstGeom>
          <a:noFill/>
          <a:ln w="38100">
            <a:solidFill>
              <a:srgbClr val="0066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162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típicos de visión por computador en tiempo real (ruido, oclusión, blur, iluminación).</a:t>
            </a:r>
            <a:endParaRPr lang="en-US" sz="1400" dirty="0"/>
          </a:p>
        </p:txBody>
      </p:sp>
      <p:pic>
        <p:nvPicPr>
          <p:cNvPr id="5" name="Image 0" descr="/mnt/data/logos_ulpgc_eii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670" y="201168"/>
            <a:ext cx="2408170" cy="777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600200"/>
            <a:ext cx="5212080" cy="1300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05156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rápidos → desenfoque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21488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estrés, el blur puede hacer que CSRT pierda el objeto o derive hacia el fondo con texturas similares.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1600200"/>
            <a:ext cx="5212080" cy="13003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8122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y distancia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12280" y="21488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detección de disparo por cambios de brillo es sensible a sombras, contraluces o baja iluminación y a la escala por distancia a la cámara.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218688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975360" y="34472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de uso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5360" y="3721608"/>
            <a:ext cx="4572000" cy="7246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 para entornos controlados (entrenamiento/servidores privados) y revisando los Términos de Servicio de terceros antes de usarlo.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99430" y="3218688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736080" y="34472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métricas cuantitativas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36080" y="3760445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trabajo futuro: FPS efectivos, latencia end‑to‑end, tasa de recuperación tras oclusión y exactitud de clasificación de gestos.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162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futuras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194560" cy="0"/>
          </a:xfrm>
          <a:prstGeom prst="line">
            <a:avLst/>
          </a:prstGeom>
          <a:noFill/>
          <a:ln w="38100">
            <a:solidFill>
              <a:srgbClr val="0066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162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prototipo funcional a sistema más robusto y usable.</a:t>
            </a:r>
            <a:endParaRPr lang="en-US" sz="1400" dirty="0"/>
          </a:p>
        </p:txBody>
      </p:sp>
      <p:pic>
        <p:nvPicPr>
          <p:cNvPr id="5" name="Image 0" descr="/mnt/data/logos_ulpgc_eii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670" y="201168"/>
            <a:ext cx="2408170" cy="777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35622" y="1732442"/>
            <a:ext cx="7162495" cy="340982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3204823" y="1973826"/>
            <a:ext cx="5825399" cy="3781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</a:t>
            </a: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</a:t>
            </a: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4823" y="2293866"/>
            <a:ext cx="5825399" cy="2445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calibración (segmentación/detección).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robustez ante alta velocidad (menos pérdida y drift).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 err="1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</a:t>
            </a:r>
            <a:r>
              <a:rPr lang="en-US" sz="16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6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gestos: agacharse, recargar, cambio de arma, etc.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UI/UX: GUI para ver estado y ajustar sensibilidad sin reiniciar.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y portabilidad: aplicación/servicio, mejor uso de hilos.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6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18745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</a:t>
            </a:r>
            <a:r>
              <a:rPr lang="en-US" sz="5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vuestra atención!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5639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detalles completos están en la memoria del proyecto.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804838"/>
            <a:ext cx="694944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51560" y="3838145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51560" y="42062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 Raposo Iglesias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Tycho Santana Quintana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Samuel Trujillo Gil</a:t>
            </a:r>
            <a:endParaRPr lang="en-US" dirty="0"/>
          </a:p>
        </p:txBody>
      </p:sp>
      <p:pic>
        <p:nvPicPr>
          <p:cNvPr id="8" name="Image 0" descr="/mnt/data/logos_ulpgc_eii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474" y="401402"/>
            <a:ext cx="2833141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44</TotalTime>
  <Words>959</Words>
  <Application>Microsoft Office PowerPoint</Application>
  <PresentationFormat>Panorámica</PresentationFormat>
  <Paragraphs>112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Gill Sans MT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ULPGC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Interfaz natural de usuario para FPS</dc:title>
  <dc:subject>Interfaz natural de usuario para FPS basada en visión por computador</dc:subject>
  <dc:creator>ULPGC — Visión por Computador</dc:creator>
  <cp:lastModifiedBy>Guillermo Raposo Iglesias</cp:lastModifiedBy>
  <cp:revision>2</cp:revision>
  <dcterms:created xsi:type="dcterms:W3CDTF">2026-01-09T21:30:25Z</dcterms:created>
  <dcterms:modified xsi:type="dcterms:W3CDTF">2026-01-09T22:27:10Z</dcterms:modified>
</cp:coreProperties>
</file>